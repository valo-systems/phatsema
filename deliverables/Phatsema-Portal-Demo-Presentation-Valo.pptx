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f2c0db19247fa" /><Relationship Type="http://schemas.openxmlformats.org/officeDocument/2006/relationships/extended-properties" Target="/docProps/app.xml" Id="Rcd6d261fd2f54e0d" /><Relationship Type="http://schemas.openxmlformats.org/officeDocument/2006/relationships/officeDocument" Target="/ppt/presentation.xml" Id="R2d0a2a38f376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cea7a5fb9244b1"/>
  </p:sldMasterIdLst>
  <p:notesMasterIdLst>
    <p:notesMasterId xmlns:r="http://schemas.openxmlformats.org/officeDocument/2006/relationships" r:id="R36bb01dd429e4323"/>
  </p:notesMasterIdLst>
  <p:sldIdLst>
    <p:sldId xmlns:r="http://schemas.openxmlformats.org/officeDocument/2006/relationships" id="256" r:id="Rda01247ccd004ec5"/>
    <p:sldId xmlns:r="http://schemas.openxmlformats.org/officeDocument/2006/relationships" id="257" r:id="Rf345ff4b1c104752"/>
    <p:sldId xmlns:r="http://schemas.openxmlformats.org/officeDocument/2006/relationships" id="258" r:id="Rcf61a4a1100141d8"/>
    <p:sldId xmlns:r="http://schemas.openxmlformats.org/officeDocument/2006/relationships" id="259" r:id="R2b45ecb4d64d4c6c"/>
    <p:sldId xmlns:r="http://schemas.openxmlformats.org/officeDocument/2006/relationships" id="260" r:id="Ree7ffd91ded04047"/>
    <p:sldId xmlns:r="http://schemas.openxmlformats.org/officeDocument/2006/relationships" id="261" r:id="Rfcdd12e544f14376"/>
    <p:sldId xmlns:r="http://schemas.openxmlformats.org/officeDocument/2006/relationships" id="262" r:id="R08e6ee51eb3b4af4"/>
    <p:sldId xmlns:r="http://schemas.openxmlformats.org/officeDocument/2006/relationships" id="263" r:id="Rb9b9bf5ddc4a449e"/>
    <p:sldId xmlns:r="http://schemas.openxmlformats.org/officeDocument/2006/relationships" id="264" r:id="Refce7c29699b48ab"/>
    <p:sldId xmlns:r="http://schemas.openxmlformats.org/officeDocument/2006/relationships" id="265" r:id="R79846e6b17114df4"/>
    <p:sldId xmlns:r="http://schemas.openxmlformats.org/officeDocument/2006/relationships" id="266" r:id="R48a49c2a4f464197"/>
    <p:sldId xmlns:r="http://schemas.openxmlformats.org/officeDocument/2006/relationships" id="267" r:id="Rafc2618317e84a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d9f752ccd465a" /><Relationship Type="http://schemas.openxmlformats.org/officeDocument/2006/relationships/slideMaster" Target="/ppt/slideMasters/slideMaster1.xml" Id="R38cea7a5fb9244b1" /><Relationship Type="http://schemas.openxmlformats.org/officeDocument/2006/relationships/notesMaster" Target="/ppt/notesMasters/notesMaster1.xml" Id="R36bb01dd429e4323" /><Relationship Type="http://schemas.openxmlformats.org/officeDocument/2006/relationships/presProps" Target="/ppt/presProps.xml" Id="Rc79d7cf1d6f54537" /><Relationship Type="http://schemas.openxmlformats.org/officeDocument/2006/relationships/tableStyles" Target="/ppt/tableStyles.xml" Id="R56594a1c98f7450e" /><Relationship Type="http://schemas.openxmlformats.org/officeDocument/2006/relationships/slide" Target="/ppt/slides/slide1.xml" Id="Rda01247ccd004ec5" /><Relationship Type="http://schemas.openxmlformats.org/officeDocument/2006/relationships/slide" Target="/ppt/slides/slide2.xml" Id="Rf345ff4b1c104752" /><Relationship Type="http://schemas.openxmlformats.org/officeDocument/2006/relationships/slide" Target="/ppt/slides/slide3.xml" Id="Rcf61a4a1100141d8" /><Relationship Type="http://schemas.openxmlformats.org/officeDocument/2006/relationships/slide" Target="/ppt/slides/slide4.xml" Id="R2b45ecb4d64d4c6c" /><Relationship Type="http://schemas.openxmlformats.org/officeDocument/2006/relationships/slide" Target="/ppt/slides/slide5.xml" Id="Ree7ffd91ded04047" /><Relationship Type="http://schemas.openxmlformats.org/officeDocument/2006/relationships/slide" Target="/ppt/slides/slide6.xml" Id="Rfcdd12e544f14376" /><Relationship Type="http://schemas.openxmlformats.org/officeDocument/2006/relationships/slide" Target="/ppt/slides/slide7.xml" Id="R08e6ee51eb3b4af4" /><Relationship Type="http://schemas.openxmlformats.org/officeDocument/2006/relationships/slide" Target="/ppt/slides/slide8.xml" Id="Rb9b9bf5ddc4a449e" /><Relationship Type="http://schemas.openxmlformats.org/officeDocument/2006/relationships/slide" Target="/ppt/slides/slide9.xml" Id="Refce7c29699b48ab" /><Relationship Type="http://schemas.openxmlformats.org/officeDocument/2006/relationships/slide" Target="/ppt/slides/slide10.xml" Id="R79846e6b17114df4" /><Relationship Type="http://schemas.openxmlformats.org/officeDocument/2006/relationships/slide" Target="/ppt/slides/slide11.xml" Id="R48a49c2a4f464197" /><Relationship Type="http://schemas.openxmlformats.org/officeDocument/2006/relationships/slide" Target="/ppt/slides/slide12.xml" Id="Rafc2618317e8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8398e28e1e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c6c31b2de47e4" /><Relationship Type="http://schemas.openxmlformats.org/officeDocument/2006/relationships/notesMaster" Target="/ppt/notesMasters/notesMaster1.xml" Id="Ra6333beba38548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90591b2c74715" /><Relationship Type="http://schemas.openxmlformats.org/officeDocument/2006/relationships/notesMaster" Target="/ppt/notesMasters/notesMaster1.xml" Id="Rfc2efbfca46945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19ce7059a4180" /><Relationship Type="http://schemas.openxmlformats.org/officeDocument/2006/relationships/notesMaster" Target="/ppt/notesMasters/notesMaster1.xml" Id="R9118932139de45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f6b1b91db4667" /><Relationship Type="http://schemas.openxmlformats.org/officeDocument/2006/relationships/notesMaster" Target="/ppt/notesMasters/notesMaster1.xml" Id="Rd2565078fd65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2c8bd07924c85" /><Relationship Type="http://schemas.openxmlformats.org/officeDocument/2006/relationships/notesMaster" Target="/ppt/notesMasters/notesMaster1.xml" Id="R9b4fb2693a40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e57f655094fd2" /><Relationship Type="http://schemas.openxmlformats.org/officeDocument/2006/relationships/notesMaster" Target="/ppt/notesMasters/notesMaster1.xml" Id="R5b4a4008d0834c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ab8d9128f4c86" /><Relationship Type="http://schemas.openxmlformats.org/officeDocument/2006/relationships/notesMaster" Target="/ppt/notesMasters/notesMaster1.xml" Id="Rc68450c68d3c43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d09d990a04986" /><Relationship Type="http://schemas.openxmlformats.org/officeDocument/2006/relationships/notesMaster" Target="/ppt/notesMasters/notesMaster1.xml" Id="Rde2f57578bc341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33d4aff6c045d9" /><Relationship Type="http://schemas.openxmlformats.org/officeDocument/2006/relationships/notesMaster" Target="/ppt/notesMasters/notesMaster1.xml" Id="R4172afba9cfe49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e23ff7c5604156" /><Relationship Type="http://schemas.openxmlformats.org/officeDocument/2006/relationships/notesMaster" Target="/ppt/notesMasters/notesMaster1.xml" Id="Rfc4a58d169d545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fa3d826a514641" /><Relationship Type="http://schemas.openxmlformats.org/officeDocument/2006/relationships/notesMaster" Target="/ppt/notesMasters/notesMaster1.xml" Id="Rcfb0a44c72d046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9dba374995400a" /><Relationship Type="http://schemas.openxmlformats.org/officeDocument/2006/relationships/notesMaster" Target="/ppt/notesMasters/notesMaster1.xml" Id="Re3ecdda9c28d4c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97fc88fb948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d47540bf9488d" /><Relationship Type="http://schemas.openxmlformats.org/officeDocument/2006/relationships/slideLayout" Target="/ppt/slideLayouts/slideLayout1.xml" Id="Re6faee7fe62641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aee7fe62641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2df3ec5f34089" /><Relationship Type="http://schemas.openxmlformats.org/officeDocument/2006/relationships/image" Target="/ppt/media/image.png" Id="Rbbdbbca7be9a4144" /><Relationship Type="http://schemas.openxmlformats.org/officeDocument/2006/relationships/image" Target="/ppt/media/image2.png" Id="R94deeab405a34614" /><Relationship Type="http://schemas.openxmlformats.org/officeDocument/2006/relationships/notesSlide" Target="/ppt/notesSlides/notesSlide1.xml" Id="R49db7039c07d4d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d5fe2ff684bd1" /><Relationship Type="http://schemas.openxmlformats.org/officeDocument/2006/relationships/notesSlide" Target="/ppt/notesSlides/notesSlide2.xml" Id="R7af6c21cebec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39a38e99e4ce5" /><Relationship Type="http://schemas.openxmlformats.org/officeDocument/2006/relationships/image" Target="/ppt/media/image3.png" Id="Rf75c8c942604443d" /><Relationship Type="http://schemas.openxmlformats.org/officeDocument/2006/relationships/notesSlide" Target="/ppt/notesSlides/notesSlide3.xml" Id="R9cc20188c5cb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f217c84324bd7" /><Relationship Type="http://schemas.openxmlformats.org/officeDocument/2006/relationships/notesSlide" Target="/ppt/notesSlides/notesSlide4.xml" Id="R3add4453c503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1f4290dd482c" /><Relationship Type="http://schemas.openxmlformats.org/officeDocument/2006/relationships/notesSlide" Target="/ppt/notesSlides/notesSlide5.xml" Id="R1721bee8d705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0eaa5c70a464b" /><Relationship Type="http://schemas.openxmlformats.org/officeDocument/2006/relationships/image" Target="/ppt/media/image4.png" Id="R6eabaa50412b42b8" /><Relationship Type="http://schemas.openxmlformats.org/officeDocument/2006/relationships/notesSlide" Target="/ppt/notesSlides/notesSlide6.xml" Id="R37b777a3df2241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3625284934e99" /><Relationship Type="http://schemas.openxmlformats.org/officeDocument/2006/relationships/notesSlide" Target="/ppt/notesSlides/notesSlide7.xml" Id="R600f6c11318143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1aa9322ba4c44" /><Relationship Type="http://schemas.openxmlformats.org/officeDocument/2006/relationships/image" Target="/ppt/media/image5.png" Id="Rd001288ccc204f79" /><Relationship Type="http://schemas.openxmlformats.org/officeDocument/2006/relationships/notesSlide" Target="/ppt/notesSlides/notesSlide8.xml" Id="R17a0fb31a1f047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7b9128bb479a" /><Relationship Type="http://schemas.openxmlformats.org/officeDocument/2006/relationships/image" Target="/ppt/media/image6.png" Id="R7fc5f88405714ee2" /><Relationship Type="http://schemas.openxmlformats.org/officeDocument/2006/relationships/notesSlide" Target="/ppt/notesSlides/notesSlide9.xml" Id="Raa6360f3f54147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ccf348f154e53" /><Relationship Type="http://schemas.openxmlformats.org/officeDocument/2006/relationships/image" Target="/ppt/media/image7.png" Id="R3bde64af602a48aa" /><Relationship Type="http://schemas.openxmlformats.org/officeDocument/2006/relationships/notesSlide" Target="/ppt/notesSlides/notesSlide10.xml" Id="R53fda9d0985f49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7d16b68d4e90" /><Relationship Type="http://schemas.openxmlformats.org/officeDocument/2006/relationships/notesSlide" Target="/ppt/notesSlides/notesSlide11.xml" Id="Rbd42fa8a177446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c502b8684108" /><Relationship Type="http://schemas.openxmlformats.org/officeDocument/2006/relationships/image" Target="/ppt/media/image8.png" Id="R9ffd2d55bbeb4a63" /><Relationship Type="http://schemas.openxmlformats.org/officeDocument/2006/relationships/notesSlide" Target="/ppt/notesSlides/notesSlide12.xml" Id="R2eb8eed8b79e45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bbca7be9a41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DD78-5E1A-45E0-BC7B-2792BD2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42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564B5-0EEB-4205-BBFE-C208C141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eeab405a34614"/>
          <a:stretch xmlns:a="http://schemas.openxmlformats.org/drawingml/2006/main"/>
        </p:blipFill>
        <p:spPr>
          <a:xfrm xmlns:a="http://schemas.openxmlformats.org/drawingml/2006/main">
            <a:off x="939573" y="552450"/>
            <a:ext cx="2911929" cy="95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DC265-CFEA-4409-8D45-9E615E2F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5BF"/>
                </a:solidFill>
              </a:defRPr>
            </a:pPr>
            <a:r>
              <a:rPr sz="1050" b="1">
                <a:solidFill>
                  <a:srgbClr val="78D5BF"/>
                </a:solidFill>
              </a:rPr>
              <a:t>BACK-OFFICE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173F9-E7DA-403B-8A57-8DDF1577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Smarter inventory.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Stronger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23564-2A17-4723-9A5F-103E1A6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0E8"/>
                </a:solidFill>
              </a:defRPr>
            </a:pPr>
            <a:r>
              <a:rPr sz="1500" b="0">
                <a:solidFill>
                  <a:srgbClr val="D5E0E8"/>
                </a:solidFill>
              </a:rPr>
              <a:t>A guided demonstration of multi-site inventory, transfers, counts, assets, reporting, and audit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44B93-E11B-4430-A2B6-16BF3567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3050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02AAA-E0AC-4283-8829-E932DECB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Prepared by Valo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A3206-1D41-4EFA-AAB8-D9A9E2D7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C6D2"/>
                </a:solidFill>
              </a:defRPr>
            </a:pPr>
            <a:r>
              <a:rPr sz="900" b="1">
                <a:solidFill>
                  <a:srgbClr val="B7C6D2"/>
                </a:solidFill>
              </a:rPr>
              <a:t>DEMO PRESENTATION  | 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0EB42-06D2-44C6-AB6F-6733BE2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4D0DA"/>
                </a:solidFill>
              </a:defRPr>
            </a:pPr>
            <a:r>
              <a:rPr sz="750" b="0">
                <a:solidFill>
                  <a:srgbClr val="C4D0DA"/>
                </a:solidFill>
              </a:rPr>
              <a:t>Prepared by Valo Systems  |  Demonstration edition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5CB30-978F-41CE-8F21-E50AC5F0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4D0DA"/>
                </a:solidFill>
              </a:defRPr>
            </a:pPr>
            <a:r>
              <a:rPr sz="750" b="1">
                <a:solidFill>
                  <a:srgbClr val="C4D0D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0112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60661-FBDB-4620-8EED-EC01E4E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THE OPERATING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5E569-F0E5-43CE-B5E0-4CD39FA1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One network. One operational 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9BECC-6970-453C-BCAA-BD387F62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The portal connects daily work to a reliable record that management can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E2807-018A-4544-88F3-A13A753F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E67D6-A537-4BB6-9FC0-A4C65CC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24B15-1BE4-41B0-B386-637F2ED1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3ACEB-D1DA-4F64-8456-FC307886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FF09C-CA79-4ADA-B8D7-F2A1FC9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727"/>
                </a:solidFill>
              </a:defRPr>
            </a:pPr>
            <a:r>
              <a:rPr sz="1875" b="1">
                <a:solidFill>
                  <a:srgbClr val="071727"/>
                </a:solidFill>
              </a:rPr>
              <a:t>See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C63ED-0B1D-43EF-9177-63836BB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Stock, assets, sites, risks, and pending work in one role-aware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5987F-770B-47C6-B46D-B259D56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B1C36-F26E-4CF4-AB18-42DB6C96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D3B2B-D0AE-413E-A37D-B34151BD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C9504-1C9D-4EDE-8578-2F278E2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727"/>
                </a:solidFill>
              </a:defRPr>
            </a:pPr>
            <a:r>
              <a:rPr sz="1875" b="1">
                <a:solidFill>
                  <a:srgbClr val="071727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79E75-CE21-406F-85D0-48382BC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Receive, issue, adjust, transfer, count, and maintain assets through guided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7B2DD-E09C-4C7F-B5A7-CA4BA06E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88F46-BE40-4555-910B-3FB0CBA5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185B4-D98D-4583-B94C-2F744DA2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765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96454-69AB-407F-8053-BC10332D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727"/>
                </a:solidFill>
              </a:defRPr>
            </a:pPr>
            <a:r>
              <a:rPr sz="1875" b="1">
                <a:solidFill>
                  <a:srgbClr val="071727"/>
                </a:solidFill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39B93-EBD0-45D5-803F-D315AEAC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Trace every posted balance to movements, approvals, references, actors, and times.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6233C-A3CC-45C1-ABDB-4F17B03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34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8F760-71B2-40B6-93C1-CC075B1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2922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Simple enough for daily work. Structured enough for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C8F20-6134-4DC6-9EE3-B9D6F08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59077-5058-4758-84AB-DDE80AC0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6679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1A2AF-8328-4C10-B3E4-C2A94A0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START WITH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56C4E-B53C-4499-A005-3391B715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The dashboard turns activity into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129D7-7D14-486D-9509-77AB1BB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Review the network before opening detailed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5A8E3-3E4F-4E2A-861C-3A1F49CC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c8c942604443d"/>
          <a:stretch xmlns:a="http://schemas.openxmlformats.org/drawingml/2006/main"/>
        </p:blipFill>
        <p:spPr>
          <a:xfrm xmlns:a="http://schemas.openxmlformats.org/drawingml/2006/main">
            <a:off x="2051583" y="2266950"/>
            <a:ext cx="4602685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BC690-B3CA-4DB0-825D-5FECA55F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8A55D-C9B6-4093-B11A-B505C3DD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Network 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81EF4-1D74-4310-9F73-40AEA8D1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384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Stock value, item health, sites, and in-transit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F35CC-F09C-47CC-8701-FEE04241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5CAD9-55F7-432C-A083-101D457E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Action queues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34212-98C8-4B96-84B7-E7000B1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Transfers needing attention and recent operational 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89B57-C510-42FC-98CD-AF249F9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F9160-7049-4C4C-AA42-A71BE50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Site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E5684-6B98-4303-9BAB-37FDF6C7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6725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All-site or selected-site context follows user authority.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A4C8D-752F-4FDD-8F8E-89A95857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295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ECA2D-CE3E-4258-AABD-E987179C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8168"/>
                </a:solidFill>
              </a:defRPr>
            </a:pPr>
            <a:r>
              <a:rPr sz="1575" b="1">
                <a:solidFill>
                  <a:srgbClr val="078168"/>
                </a:solidFill>
              </a:rPr>
              <a:t>Demo value</a:t>
            </a:r>
          </a:p>
          <a:p xmlns:a="http://schemas.openxmlformats.org/drawingml/2006/main">
            <a:pPr algn="l">
              <a:defRPr sz="1575" b="1">
                <a:solidFill>
                  <a:srgbClr val="078168"/>
                </a:solidFill>
              </a:defRPr>
            </a:pPr>
            <a:r>
              <a:rPr sz="1575" b="1">
                <a:solidFill>
                  <a:srgbClr val="078168"/>
                </a:solidFill>
              </a:rPr>
              <a:t>R 122 365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EE41F-8586-4F33-845C-7606C82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4A4AB-7150-444D-90CB-F982B9D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228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53A7C-79E6-4151-8F64-59DB5C9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INVENTORY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1E607-492C-41BC-B0A6-810D0CD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Balances are outcomes, not editable totals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6612F-DC7A-4621-B960-8CEF941F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Every posted operation creates an immutable movement, and movements explain the balance.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7C75-58BC-42C8-9A64-A88C3612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728B0-C919-493A-A04B-BA1FE20C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53148-1DF8-4940-963B-29C1017D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Receive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19C1E-0AFC-4DCF-8CA5-E50F009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Inbound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2E0FF-CA06-4CAA-A5A1-C5D9797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676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E6924-9EFA-458D-9A5C-409BA43C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88683-D45A-4EA4-A615-5B04AF32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Outbound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ABED1-7710-446D-BB85-09A07ED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1676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0037F-A3E5-42FE-9B5F-0FB0AC6E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146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Adjust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D9A77-3B9E-45F3-9064-C0B2E4D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Correction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2BEA8-9243-49B4-BF41-AA10E721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676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102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5FCE0-E2F7-404D-B6D9-2748C19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CFF24-93ED-4AE4-A41A-EB41C6C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7D6E2"/>
                </a:solidFill>
              </a:defRPr>
            </a:pPr>
            <a:r>
              <a:rPr sz="900" b="0">
                <a:solidFill>
                  <a:srgbClr val="C7D6E2"/>
                </a:solidFill>
              </a:rPr>
              <a:t>Custody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3E911-127D-47CB-9358-02AEFAD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1676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CC4D-D3CB-47B6-B6E5-42B98528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AD250-506A-4478-82F8-57E78A6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38450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Assurance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02CF6-C591-4FA4-8211-13B9C864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7177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C24CA-B519-4980-B3D8-A33CE28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7177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CBD02-6B59-4DD6-A9E7-86F9811C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3FFCE-D813-409F-A93D-2CD09EA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71775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DF244-9209-401F-A69A-7984BAA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857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71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912CA-C86A-4F8A-811B-D2ECC7D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D0B8"/>
                </a:solidFill>
              </a:defRPr>
            </a:pPr>
            <a:r>
              <a:rPr sz="1350" b="1">
                <a:solidFill>
                  <a:srgbClr val="6FD0B8"/>
                </a:solidFill>
              </a:rPr>
              <a:t>IMMUTABLE MOVEMENT LEDGER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88A9F-C9F7-4DD2-A57C-021C726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243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item  •  site  •  location  •  quantity  •  unit  •  reference  •  actor  • 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D91EF-974B-4EBF-A113-3B333F7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F345B-5514-4B29-A6C6-EF0D860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53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DERIVED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3D722-1205-4509-880A-7054213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B8F22-39C2-4581-A292-57DA016E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3120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59C9C-4433-4B9D-B57E-C1391AD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DAILY TRANSACTIONS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57AB-40AC-4F69-95F8-363979B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Receive, issue, and adjust with clear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50CCC-F133-4E27-9ECA-0FD7C3C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The correct workflow should represent what physically happened.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0CD3-76BE-411C-8582-4FF9B23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8629-FB8E-448F-9A6B-DB2C8F2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194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A8ECB-C802-4594-946A-F6D28B4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426D5-77B6-4361-A535-3979E055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727"/>
                </a:solidFill>
              </a:defRPr>
            </a:pPr>
            <a:r>
              <a:rPr sz="1950" b="1">
                <a:solidFill>
                  <a:srgbClr val="071727"/>
                </a:solidFill>
              </a:rPr>
              <a:t>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744BD-093C-4932-96BA-DCB35B14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168"/>
                </a:solidFill>
              </a:defRPr>
            </a:pPr>
            <a:r>
              <a:rPr sz="1125" b="1">
                <a:solidFill>
                  <a:srgbClr val="078168"/>
                </a:solidFill>
              </a:rPr>
              <a:t>Where did it arrive?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62036-730D-44C1-8913-BF83771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Supplier or delivery reference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Item, unit, quantity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Inbound ledger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1BC32-A354-4DD0-A5F5-770D2BC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2194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6885A-F275-4038-BAD7-41B2ED7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007E3-B3C0-4C25-B32C-5901761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727"/>
                </a:solidFill>
              </a:defRPr>
            </a:pPr>
            <a:r>
              <a:rPr sz="1950" b="1">
                <a:solidFill>
                  <a:srgbClr val="071727"/>
                </a:solidFill>
              </a:rPr>
              <a:t>Issue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39E07-6327-4EE6-AC72-40AA71D8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5B6"/>
                </a:solidFill>
              </a:defRPr>
            </a:pPr>
            <a:r>
              <a:rPr sz="1125" b="1">
                <a:solidFill>
                  <a:srgbClr val="1785B6"/>
                </a:solidFill>
              </a:rPr>
              <a:t>Where did it leave?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161DE-DAAB-41AB-8E92-3CD3384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Recipient and purpose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Availability validation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Outbound ledger 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9E2DE-B272-4A64-9682-E57C6AAE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219450" cy="293370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97898-0C2A-4D17-B9FB-AC45C70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219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5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FCAA3-F319-4E8E-B2BB-5C9D752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727"/>
                </a:solidFill>
              </a:defRPr>
            </a:pPr>
            <a:r>
              <a:rPr sz="1950" b="1">
                <a:solidFill>
                  <a:srgbClr val="071727"/>
                </a:solidFill>
              </a:rPr>
              <a:t>Adjust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B0719-54AE-4C06-A1E8-87E39D3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50A"/>
                </a:solidFill>
              </a:defRPr>
            </a:pPr>
            <a:r>
              <a:rPr sz="1125" b="1">
                <a:solidFill>
                  <a:srgbClr val="B5650A"/>
                </a:solidFill>
              </a:rPr>
              <a:t>Why is correction valid?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83437-8603-48A4-B62E-97D8F54F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Approved reason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Supporting reference</a:t>
            </a:r>
          </a:p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Reviewable 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249B1-A255-4775-B751-C5193DE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44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2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C0969-3902-4F34-AE3F-63E79110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168"/>
                </a:solidFill>
              </a:defRPr>
            </a:pPr>
            <a:r>
              <a:rPr sz="1125" b="1">
                <a:solidFill>
                  <a:srgbClr val="078168"/>
                </a:solidFill>
              </a:rPr>
              <a:t>Control point: confirm site, location, item, unit, quantity, reason, and source evidence before posting.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68728-BCED-4599-B7A2-2ED8D07B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B728D-063F-49D2-A3A6-EE51CF25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4064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2E103-1B63-4B91-B69A-E79624D3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INTER-SITE CUSTODY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9ECA7-FEC7-4445-911F-93E18BFF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Transfers retain responsibility between locations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BDA57-9787-40D1-BBC6-B7E0495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The source dispatches, the destination receives, and discrepancies remain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311F-D085-4C74-A9E3-61B56ED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baa50412b42b8"/>
          <a:stretch xmlns:a="http://schemas.openxmlformats.org/drawingml/2006/main"/>
        </p:blipFill>
        <p:spPr>
          <a:xfrm xmlns:a="http://schemas.openxmlformats.org/drawingml/2006/main">
            <a:off x="1366838" y="2476500"/>
            <a:ext cx="4829175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7928-E032-40E1-9DC9-47DB03C3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762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17EF1-1B69-4C73-934B-B8F0470D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76CE7-4887-4F45-94E3-0B747EE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289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BA04C-CDE4-4D83-80E7-A2DA6468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2762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746D7-D3AC-4895-B23F-3D638B8A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57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Submitted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DB0DC-D536-4F8D-A32F-C131905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5757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3485D-DE23-4291-BC09-B00E9188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762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8D9C1-CC9F-4E6A-9234-FBB1EEBD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861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61B20-DE6B-4E38-B7DD-D213739B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56840-D83A-49B9-A9D2-F9BE32A4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762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AB3E0-1E16-4D15-BEF4-8804A90B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14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650A"/>
                </a:solidFill>
              </a:defRPr>
            </a:pPr>
            <a:r>
              <a:rPr sz="1200" b="1">
                <a:solidFill>
                  <a:srgbClr val="B5650A"/>
                </a:solidFill>
              </a:rPr>
              <a:t>Dispatched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9BD22-2E91-4A5B-B852-6DE59F3D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38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AC384-0DBB-463A-834C-ED2F72E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762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2F5E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C31B6-A886-4E8C-91EE-4AA72B9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43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168"/>
                </a:solidFill>
              </a:defRPr>
            </a:pPr>
            <a:r>
              <a:rPr sz="1200" b="1">
                <a:solidFill>
                  <a:srgbClr val="078168"/>
                </a:solidFill>
              </a:rPr>
              <a:t>Received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8A403-5E8F-444C-A246-76B730D9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67375"/>
            <a:ext cx="3333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06A5C-91AB-448C-AE92-91156EA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340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Discrepancy = visible follow-up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63E82-4371-4B48-8F88-F3D9B017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F2522-87FA-4D44-900C-F18B319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5265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94CA9F-ECAC-4049-BDEE-7540A2B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INVENTORY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AA32A-2807-4B6B-A37B-6F7D4924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Counts correct through review, not silent overwrite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54399-55A4-4925-8334-833CB33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Expected quantity, counted quantity, variance, decision, and posting stay connected.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ECF1-ECE2-4145-A847-845A7652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05A0-6259-4121-81D9-F8B72AF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04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48CC9-816E-4AC9-83A2-38C626C6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2B45C-4104-4267-BDC2-D55DF526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955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8F1C7-D842-43AF-947B-34DE781E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504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B0082-2DC3-4934-807F-CE0203DA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431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67EA6-3109-4C18-8DC1-6B249EE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955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6C837-321B-4FD6-9DEC-52F813D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1504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C8A5C-3571-4065-91C5-6C59EEE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431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727"/>
                </a:solidFill>
              </a:defRPr>
            </a:pPr>
            <a:r>
              <a:rPr sz="1350" b="1">
                <a:solidFill>
                  <a:srgbClr val="071727"/>
                </a:solidFill>
              </a:rPr>
              <a:t>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DFDF8-3CE5-40EA-A8D2-D93CC87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55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4A26B-2951-47D4-B507-9C19840D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504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85B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56F70-1B8A-44DD-827F-3629ABC3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431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26E76-1C36-4B63-B267-D2030AD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955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ADE6F-C859-4649-B072-9A4C9A17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1504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31A3F-62DA-4DA3-9443-FD8A6F9B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431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C62B0-B95A-4AB2-90A9-B7C6ECE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971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89D5D-440C-487E-855C-5D5B8D84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727"/>
                </a:solidFill>
              </a:defRPr>
            </a:pPr>
            <a:r>
              <a:rPr sz="1575" b="1">
                <a:solidFill>
                  <a:srgbClr val="071727"/>
                </a:solidFill>
              </a:rPr>
              <a:t>When variance needs attention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0757E-FDAB-47F2-A5E6-25A18CA9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7"/>
                </a:solidFill>
              </a:defRPr>
            </a:pPr>
            <a:r>
              <a:rPr sz="1200" b="0">
                <a:solidFill>
                  <a:srgbClr val="657287"/>
                </a:solidFill>
              </a:rPr>
              <a:t>Request a recount, approve with authority, or investigate before posting.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0E265-EBEB-4742-B9B5-59346DE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53811-7EA7-4353-BC64-E0FE370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Active counts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4CDF6-A664-4A9D-BEF4-62758D9D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85B6"/>
                </a:solidFill>
              </a:defRPr>
            </a:pPr>
            <a:r>
              <a:rPr sz="2100" b="1">
                <a:solidFill>
                  <a:srgbClr val="1785B6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36410-2566-463C-8BD1-127EB296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ECF99-18D0-475F-848E-79A65A6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Posted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E9585-55C4-4660-8290-114B42A0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8168"/>
                </a:solidFill>
              </a:defRPr>
            </a:pPr>
            <a:r>
              <a:rPr sz="2100" b="1">
                <a:solidFill>
                  <a:srgbClr val="078168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BB679-0418-49E2-BC0E-A4E892F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3D032-2008-4445-AFAB-6AEFF9B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0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7"/>
                </a:solidFill>
              </a:defRPr>
            </a:pPr>
            <a:r>
              <a:rPr sz="900" b="0">
                <a:solidFill>
                  <a:srgbClr val="657287"/>
                </a:solidFill>
              </a:rPr>
              <a:t>With variance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B4FB9-24E6-41EA-8E23-B5411C7C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433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5650A"/>
                </a:solidFill>
              </a:defRPr>
            </a:pPr>
            <a:r>
              <a:rPr sz="2100" b="1">
                <a:solidFill>
                  <a:srgbClr val="B5650A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EEFFA-7CF3-4539-8B96-8604BA3A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95345-3FDD-488E-BB5F-691C4EB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Posting creates authorised adjustment movements and completes the count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C6EF2-8EE1-4E33-A260-D87B61F1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A58939-D4D5-437F-8750-E1CEAA8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018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0A912-CC8C-4D49-A3EF-0264187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ACCOUNTABLE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12555-E670-436F-8FAB-25908FD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Assets stay separate from quantity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51776-E584-4E9D-96FE-F788D6F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Track identity, ownership, assignment, location, status, and lifecycle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1781E-2E34-48C9-B12E-998FE8CF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1288ccc204f79"/>
          <a:stretch xmlns:a="http://schemas.openxmlformats.org/drawingml/2006/main"/>
        </p:blipFill>
        <p:spPr>
          <a:xfrm xmlns:a="http://schemas.openxmlformats.org/drawingml/2006/main">
            <a:off x="5357813" y="2190750"/>
            <a:ext cx="5572125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DA8F7-03B1-40F3-9F63-3889618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A8F0A-6A5E-4E9E-B15D-0D5FA42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EB846-F447-4A43-A642-1BB02C8C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Asset number, category, serial or identifying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7A64D-9BCA-4BFC-811D-1C19235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78A6F-EE7D-4A78-AC1F-062F50E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1B848-4F5A-4283-9432-EC6DE8C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Company-owned, hired, and client-owned equipment.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7C321-3A6C-4876-914F-59D76FD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B4B1E-6851-485E-84A4-A117E084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Responsibility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1419F-0A79-45A2-BE40-9617446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Site, location, custodian, assignment, and current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24C6D-461D-413A-A9D5-DFD5DD1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565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4C69D-3916-43FD-82FB-B3FD9F6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2F3E8-F3A0-4E1F-B93F-A2A5C264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Availability, maintenance, unavailability, and retirement.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3D83D-DB77-43B7-A09C-B668E06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EBC7F-93E6-4391-8E8B-DB96E7CF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1669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3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ECB86-E209-48DF-BCF1-6B31A6BC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AUDIT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39AD6-E20F-46DC-8AA9-BA7CF013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Evidence is created as work happens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8AE71-8EFC-4DE4-95AB-8DA734E5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Operational controls and audit records remain connected to the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50D1A-3D99-424D-821B-0DFA879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f88405714ee2"/>
          <a:stretch xmlns:a="http://schemas.openxmlformats.org/drawingml/2006/main"/>
        </p:blipFill>
        <p:spPr>
          <a:xfrm xmlns:a="http://schemas.openxmlformats.org/drawingml/2006/main">
            <a:off x="1625720" y="2286000"/>
            <a:ext cx="478766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63DB-BCEC-41DD-8CE4-425A27C6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2AE94-5356-4F70-A8C9-92DCBA7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Movement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277BA-519F-4649-A658-5355991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050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Item, site, quantity, unit, reference, actor,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B73E2-C319-4709-BEF0-C03DCDB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BF6F4-9FEA-4287-B714-EEECFC1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Workflow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C797D-A3AB-4B8C-A6B7-862F22B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813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State history, approval, dispatch, receipt, variance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EDA9B-EB66-42B1-9805-60849D5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57E8C-509F-4A31-8EB3-FD89F31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Access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2AED7-DEBD-405C-BF7E-C03B41B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576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Role, site scope, user and profile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C1054-3D97-45E7-BC7A-9C8DA44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33950"/>
            <a:ext cx="762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4F810-5EF5-4646-B0E1-31A97A8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958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</a:defRPr>
            </a:pPr>
            <a:r>
              <a:rPr sz="1275" b="1">
                <a:solidFill>
                  <a:srgbClr val="152033"/>
                </a:solidFill>
              </a:rPr>
              <a:t>Privacy by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F83B6-596D-4226-ACDB-C53BC5A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339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No passwords, hashes, phone values, or biography contents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C682B-F80A-4903-867D-0280F078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11DB1-0574-46A7-B636-036BACC9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8300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7A9F6-E95A-4B07-A900-DE33013A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168"/>
                </a:solidFill>
              </a:defRPr>
            </a:pPr>
            <a:r>
              <a:rPr sz="975" b="1">
                <a:solidFill>
                  <a:srgbClr val="078168"/>
                </a:solidFill>
              </a:rPr>
              <a:t>TRUST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FC860-3FF9-4759-9E31-BB18308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People see and do only what their work requires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BC516-7745-46AA-AD79-DA6679A4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Permissions are role-aware, site-aware, and visible to the user.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FB325-B3B3-448A-9CF4-795E73FB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5C8F7-07D9-4448-B28D-EFF1FD7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102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D329-DE23-466C-9D73-8CD76B69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System Administrator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0E439-B9AC-4089-81F6-E48A46B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6E2"/>
                </a:solidFill>
              </a:defRPr>
            </a:pPr>
            <a:r>
              <a:rPr sz="975" b="0">
                <a:solidFill>
                  <a:srgbClr val="C7D6E2"/>
                </a:solidFill>
              </a:rPr>
              <a:t>Configuration, users, reset,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D55B5-F8AF-4A98-ADF8-06006D14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A0F02-AB21-4DC1-B05A-B160965F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Operations 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F658F-2697-4ECF-9BC6-2BBF68A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All sites, approvals, dashboard,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C5E67-20B0-4487-B9EC-C86966F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8AB78-6587-4F60-9948-7084D5D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Site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B60CC-13F8-440E-BD07-80C2959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71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Assigned site, counts, transfers, approvals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A9E40-2CF0-4ADB-8A28-936FD09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08F06-FE9E-4F4A-9761-5F74A7D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Storekeeper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FEF93-8AE0-424D-B4D0-1667100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Receiving, issues, transfers, counting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7A7F9-CD35-4328-AC9F-3FFD7856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27620-8D6A-4819-8878-6319B845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Executive 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12250-2F56-426C-879C-9D9D9F9D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57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</a:defRPr>
            </a:pPr>
            <a:r>
              <a:rPr sz="975" b="0">
                <a:solidFill>
                  <a:srgbClr val="657287"/>
                </a:solidFill>
              </a:rPr>
              <a:t>Read-only dashboard, reports, activity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e64af602a48aa"/>
          <a:stretch xmlns:a="http://schemas.openxmlformats.org/drawingml/2006/main"/>
        </p:blipFill>
        <p:spPr>
          <a:xfrm xmlns:a="http://schemas.openxmlformats.org/drawingml/2006/main">
            <a:off x="6410834" y="2209800"/>
            <a:ext cx="4513832" cy="3695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7BA18-9950-4E55-8B79-835F6519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822D2-B549-46CA-A025-0BEC0A0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4051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27627-D819-4DFA-ABED-C82DF0C2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D0B4"/>
                </a:solidFill>
              </a:defRPr>
            </a:pPr>
            <a:r>
              <a:rPr sz="975" b="1">
                <a:solidFill>
                  <a:srgbClr val="65D0B4"/>
                </a:solidFill>
              </a:rPr>
              <a:t>GUIDED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9F059-7F61-44C7-B19E-E3C9EE76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25-minute route through the operating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65309-6C6D-461A-BDC8-A79E83D7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6E2"/>
                </a:solidFill>
              </a:defRPr>
            </a:pPr>
            <a:r>
              <a:rPr sz="1275" b="0">
                <a:solidFill>
                  <a:srgbClr val="C7D6E2"/>
                </a:solidFill>
              </a:rPr>
              <a:t>Use one connected scenario so every screen answers the question created by the previous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0D68-DE5A-4D32-AAFF-82133CCD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B01E8-EDEF-48EB-A8E6-79F9CBD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67075-7193-42AE-9888-1419B0C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0A269-AC8A-41A9-A3EC-379D563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Spot risk and pending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E8F7F-4C4B-4014-8B08-C91E8F9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A16F5-2518-49F7-9019-6AA1FC7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45892-4692-4837-8113-3683AE5D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7709C-E46E-408A-A854-D978C8CC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Confirm identity and stock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47EC7-C8F4-416E-BC67-ED0AFAC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A7427-CACC-4738-83BE-9705E47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B9E62-6938-4EAE-A38F-161C7AD6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Receive / 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3CA75-A69C-4538-B33F-5316EB7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Create controlled movements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88024-17E0-42D9-B338-E47028A9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FA2E8-B124-4629-938E-9F3F6143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80E4D-D2C6-4686-910C-5751F9D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5EEA8-B46E-416D-9EE0-EA6C811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0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Move custody between sites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408D1-8719-4F2A-897F-B772164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82AAE-0D2D-4259-9DDC-4FDEE2BC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35422-739C-4E80-8DD2-8869E6F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19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13792-0165-4E90-A9F6-2C2429F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10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Review and post a variance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DF2F7-3B04-4F6C-A99F-A9FB1315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67150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2946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1760A-38C6-401E-A416-454239C9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D1B6"/>
                </a:solidFill>
              </a:defRPr>
            </a:pPr>
            <a:r>
              <a:rPr sz="1275" b="1">
                <a:solidFill>
                  <a:srgbClr val="68D1B6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C3461-8E11-4817-9525-A487AE9B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9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9045D-77BC-44FD-B2F4-7AB7919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10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8D3"/>
                </a:solidFill>
              </a:defRPr>
            </a:pPr>
            <a:r>
              <a:rPr sz="1050" b="0">
                <a:solidFill>
                  <a:srgbClr val="B9C8D3"/>
                </a:solidFill>
              </a:rPr>
              <a:t>Trace the complete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EE577-7FE7-4537-BDDD-0A647FA8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4D0DA"/>
                </a:solidFill>
              </a:defRPr>
            </a:pPr>
            <a:r>
              <a:rPr sz="750" b="0">
                <a:solidFill>
                  <a:srgbClr val="C4D0DA"/>
                </a:solidFill>
              </a:rPr>
              <a:t>Prepared by Valo Systems  |  Demonstration edition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3029E-A5C9-4ACA-80C3-76FB0A2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4D0DA"/>
                </a:solidFill>
              </a:defRPr>
            </a:pPr>
            <a:r>
              <a:rPr sz="750" b="1">
                <a:solidFill>
                  <a:srgbClr val="C4D0D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5651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d2d55bbeb4a63"/>
          <a:stretch xmlns:a="http://schemas.openxmlformats.org/drawingml/2006/main"/>
        </p:blipFill>
        <p:spPr>
          <a:xfrm xmlns:a="http://schemas.openxmlformats.org/drawingml/2006/main">
            <a:off x="825409" y="361950"/>
            <a:ext cx="2387781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B00C1-BA13-4801-BB36-005E89F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727"/>
                </a:solidFill>
              </a:defRPr>
            </a:pPr>
            <a:r>
              <a:rPr sz="2700" b="1">
                <a:solidFill>
                  <a:srgbClr val="071727"/>
                </a:solidFill>
              </a:rPr>
              <a:t>From demonstration to dependable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4798A-6D3A-4CED-9D2C-AD5D771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7"/>
                </a:solidFill>
              </a:defRPr>
            </a:pPr>
            <a:r>
              <a:rPr sz="1350" b="0">
                <a:solidFill>
                  <a:srgbClr val="657287"/>
                </a:solidFill>
              </a:rPr>
              <a:t>The next workshop should convert what the team validates into production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C033A-FC09-45EF-A3BB-1A16C53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A10B5-C17A-488B-9675-7B53F2EA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45351-65A9-453C-9C62-A0835D4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Confirm the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15F83-EEC2-4372-A326-AF7F90A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</a:defRPr>
            </a:pPr>
            <a:r>
              <a:rPr sz="1050" b="0">
                <a:solidFill>
                  <a:srgbClr val="657287"/>
                </a:solidFill>
              </a:rPr>
              <a:t>Sites, locations, ownership, units, master-data 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23523-878D-48F8-8136-6CB3B39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7EA70-538E-4A94-94DC-0C91F0BF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9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1A101-8F0F-43DC-9505-DE22ABA5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Confirm control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E8853-A80D-4976-91EA-648CDFC0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671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</a:defRPr>
            </a:pPr>
            <a:r>
              <a:rPr sz="1050" b="0">
                <a:solidFill>
                  <a:srgbClr val="657287"/>
                </a:solidFill>
              </a:rPr>
              <a:t>Roles, segregation, thresholds, delegation, exceptions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9271D-731F-4D0F-A3E7-41A893AD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00C95-33F8-4327-B5BE-1345456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38BF4-88BE-41FA-81BB-08A4D06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Confirm production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30971-B3D7-481A-8A52-7499364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00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</a:defRPr>
            </a:pPr>
            <a:r>
              <a:rPr sz="1050" b="0">
                <a:solidFill>
                  <a:srgbClr val="657287"/>
                </a:solidFill>
              </a:rPr>
              <a:t>Opening balances, valuation, cutoff, retention, backups, auditor packs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E29C-988E-4800-8B3B-ACFC88D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2F5E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E9638-D090-4576-9B0C-C1DCA455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9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7AF7E-2F6B-4529-A5BB-2E8FC04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727"/>
                </a:solidFill>
              </a:defRPr>
            </a:pPr>
            <a:r>
              <a:rPr sz="1200" b="1">
                <a:solidFill>
                  <a:srgbClr val="071727"/>
                </a:solidFill>
              </a:rPr>
              <a:t>Plan the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F185F-745F-4D34-9359-0874C50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530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</a:defRPr>
            </a:pPr>
            <a:r>
              <a:rPr sz="1050" b="0">
                <a:solidFill>
                  <a:srgbClr val="657287"/>
                </a:solidFill>
              </a:rPr>
              <a:t>MariaDB persistence, migration, training, rehearsal, sign-off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4D457-2C5A-4965-AA67-7D18603B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0"/>
            <a:ext cx="514350" cy="2800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311EE-A4D3-4F12-8237-DAF6B6A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9900"/>
            <a:ext cx="3238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READY TO 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DA341-5DB0-4152-95F9-48E8FAFE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168"/>
                </a:solidFill>
              </a:defRPr>
            </a:pPr>
            <a:r>
              <a:rPr sz="1125" b="1">
                <a:solidFill>
                  <a:srgbClr val="078168"/>
                </a:solidFill>
              </a:rPr>
              <a:t>phatsema.valosystems.co.za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CC58C-6E95-48CF-ADE5-1982753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287"/>
                </a:solidFill>
              </a:defRPr>
            </a:pPr>
            <a:r>
              <a:rPr sz="750" b="0">
                <a:solidFill>
                  <a:srgbClr val="657287"/>
                </a:solidFill>
              </a:rPr>
              <a:t>Prepared by Valo Systems  |  Demonstration edition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2DDE2-8192-4856-8F0D-DCCE53F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287"/>
                </a:solidFill>
              </a:defRPr>
            </a:pPr>
            <a:r>
              <a:rPr sz="750" b="1">
                <a:solidFill>
                  <a:srgbClr val="65728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1553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2026-07-20T10:34:56.5390000Z</dcterms:created>
  <dcterms:modified xsi:type="dcterms:W3CDTF">2026-07-20T10:34:56.5390000Z</dcterms:modified>
</coreProperties>
</file>